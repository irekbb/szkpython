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80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5526F9-FDBC-F64C-9518-160F99A8A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EC33D8F-576F-691F-805E-E88CBCF84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CF450E0-CB4B-AF35-F506-1E9D579F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DDD30F3-D77B-8723-A696-03CC3FA4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B9C42B7-6151-1B38-B422-A698F19E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754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261BA8-5D8D-7743-0CAB-541AC433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49F472-0C42-43D8-E214-427A1EC00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AFCCFB-60D3-F673-4605-50AB9EF5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B896C96-AEE1-EF26-32FF-265A54080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B38A96D-5A80-F0F9-D59E-E7281574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934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090C8E-7183-AEBD-03B5-31756DAE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93ABDAB-7B9A-41DF-1FEB-F7BC85F1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7CB3CBE-D5F8-9A9C-CB49-882DEEC7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4B620F0-7254-084B-8C7F-4C992A5B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184D91-9FF4-BFE1-7A5E-163C9B83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811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7B1EE5-8328-413E-68E9-9A4CE966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D837D2F-7C55-08DE-9F57-D6C6941D3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AE94069-ECAE-4890-6B7E-40489C5DE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FC226F0-FEB8-88E6-F39F-42B58772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53D133E-E6B5-4086-1255-DF1D6CFF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271B707-79EF-F218-4AA7-6A10FBA8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822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1FC91F-A67F-28D3-3D71-34C85261E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A321374-0400-AD5D-F665-C73246F3C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E3C4253-99E2-16E1-2E82-8091D2830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651F283-AD8F-957E-C3EF-937B23133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EB5E200-ACEE-E426-6A09-137E9C420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7A06E83-F7E9-1A1E-C3E1-FB278F29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12F7E72-D341-B694-1220-249FDBA1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A6D9514-CD4B-BA11-AA4D-BE2BF508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6233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7FAE7D-1BB4-0EBB-3F80-12F597C45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A9B1C5F-0A87-1AAC-326B-60A2C32D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BC79DF4-F1F1-39CD-C1D9-3E200125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2EEAE78-1310-08B2-3558-296D8593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46452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343AABF-C4D1-FCE9-86A8-BC7D103F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AC1D6B7-C2C1-8ED0-7FAF-0F532AEC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0CC6E0D-D026-7EA1-61DA-D7E833F3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855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F38CD7-0CBF-0F6A-CE09-F2103B96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F1018E7-7B76-C31E-4D22-D658BA6B5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2FB5D08-68DC-244F-70FA-4F8C1AF49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B43AD7D-87E2-80FD-6363-8A0F41219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9B3CF39-795C-C965-60F2-5921C3D62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0BFFDAF-F141-7B39-D658-02F04042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264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7FA640-1D8F-3638-8A5B-B5CF1856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516EB24-E9EF-814A-DE20-29894680C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501FB6F-1D3F-6B70-9958-EE5D44900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C1C5F72-607B-75BA-E402-4D949430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AA1AB72-2BD7-48F2-93D2-D45581AB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F4CCD08-50EA-EB26-0654-082C44F2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996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5E838C-70F8-F18E-202A-63DE9703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3846EC6-4065-44D2-0CF1-AD74A5269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9759D5C-C1F6-2077-E005-AB363A4C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C7D5F0-E645-63DA-390B-16556F80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61FA42C-DF37-9389-7B1A-8EDF9705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558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9AC12DF-5A47-3003-98ED-3AB5CE80D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52BBDBF-D8DC-E02D-B8F2-F7C0C7E06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1440231-5A9B-0F65-60A2-CCB561FB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C7B258-3DA3-B355-0B6A-5BDD33840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175B675-5C3B-9B87-5466-64B6E2EB1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1440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A9EBBD37-380C-BB2E-041B-82D2C9C7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06863E3-D308-7C15-0F6E-5F6318A4B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3D3DE26-568E-A9EE-A5F3-CF7D7E566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01230-9FFD-4EE6-926B-0895535CC390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7FFE7F-6F7B-798B-412E-B88A9225B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36ED0E2-E847-67A6-4477-6852CEA66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4FB09-60D6-40FC-B30D-6DE4062D22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156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DD39F7-A160-6E7A-515F-4FC6C51DC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SZYFR Z KLUCZEM JAWNYM</a:t>
            </a:r>
            <a:br>
              <a:rPr lang="pl-PL"/>
            </a:br>
            <a:r>
              <a:rPr lang="pl-PL"/>
              <a:t>(RSA)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E4FAE1C-B918-9E80-4FD8-99F59E1F59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1026" name="Picture 2" descr="Kłódka żeliwna 50mm złota kupuj w OBI">
            <a:extLst>
              <a:ext uri="{FF2B5EF4-FFF2-40B4-BE49-F238E27FC236}">
                <a16:creationId xmlns:a16="http://schemas.microsoft.com/office/drawing/2014/main" id="{57978530-8DAE-9A59-2EC5-75994D06A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997" y="393571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lucz master #M3 do wkładki patent gałka 62mm (26+10+26mm) stal  szczotkowana - SISO-POL">
            <a:extLst>
              <a:ext uri="{FF2B5EF4-FFF2-40B4-BE49-F238E27FC236}">
                <a16:creationId xmlns:a16="http://schemas.microsoft.com/office/drawing/2014/main" id="{50B350E0-99F2-1614-4FCC-9BB8D36DF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302817">
            <a:off x="8010546" y="3209789"/>
            <a:ext cx="2957822" cy="295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78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029678-1E2F-097D-02D5-22F902E5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Czym jest klucz RSA?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01DEE6-F7E9-DAE4-180B-7D575512A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sz="3200" dirty="0"/>
              <a:t>Szyfr RSA to asymetryczny algorytm kryptograficzny. Posiada parę kluczy – publiczny (e, n) oraz prywatny (d, n). Postępowanie z użyciem asymetrycznego szyfrowania można sprowadzić do następujących kroków:</a:t>
            </a:r>
          </a:p>
          <a:p>
            <a:pPr marL="0" indent="0">
              <a:buNone/>
            </a:pPr>
            <a:endParaRPr lang="pl-PL" sz="3200" dirty="0"/>
          </a:p>
          <a:p>
            <a:r>
              <a:rPr lang="pl-PL" sz="2600" dirty="0"/>
              <a:t>Każda osoba, która chce otrzymać zaszyfrowaną wiadomość, „wystawia” na publiczny widok swój klucz publiczny.</a:t>
            </a:r>
          </a:p>
          <a:p>
            <a:r>
              <a:rPr lang="pl-PL" sz="2600" dirty="0"/>
              <a:t>Osoba chcąca wysłać wiadomość szyfruje ją wykorzystując klucz publiczny osoby, do której chce ją wysłać.</a:t>
            </a:r>
          </a:p>
          <a:p>
            <a:r>
              <a:rPr lang="pl-PL" sz="2600" dirty="0"/>
              <a:t>Osoba, która odbiera wiadomość, odszyfrowuje ją z użyciem swojego klucza prywatnego. Nikt, kto nie posiada klucza prywatnego, nie jest w stanie odszyfrować wiadomości.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8135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116B69-8D2F-7EB6-F54E-1E9679AE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Jak wyznaczyć klucz prywatny i publiczny?</a:t>
            </a:r>
            <a:br>
              <a:rPr lang="pl-PL" b="1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395BC8-CF7D-929B-F121-92C8BED0C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/>
              <a:t>1. Wybieramy dwie dowolne liczby pierwsze i oznaczamy je jako p i q. Liczby te powinny być możliwie jak największe.</a:t>
            </a:r>
          </a:p>
          <a:p>
            <a:pPr marL="0" indent="0">
              <a:buNone/>
            </a:pPr>
            <a:r>
              <a:rPr lang="pl-PL" sz="2400" dirty="0"/>
              <a:t>2. Obliczamy wartość n = p • q. Wartość n jest elementem klucza publicznego i prywatnego, określa również największą możliwą wielkość liczbową wysyłanej przez nas wiadomości.</a:t>
            </a:r>
          </a:p>
          <a:p>
            <a:pPr marL="0" indent="0">
              <a:buNone/>
            </a:pPr>
            <a:r>
              <a:rPr lang="pl-PL" sz="2400" dirty="0"/>
              <a:t>3. Wyliczamy wartość funkcji Eulera* dla n i wybieramy dowolną liczbę e spełniającą warunek (1 &lt; e &lt; φ (n)), która będzie względnie pierwsza do wartości φ (n).</a:t>
            </a:r>
            <a:br>
              <a:rPr lang="pl-PL" sz="2400" dirty="0"/>
            </a:br>
            <a:r>
              <a:rPr lang="pl-PL" sz="2400" dirty="0"/>
              <a:t>Liczba e jest elementem klucza publicznego.</a:t>
            </a:r>
          </a:p>
          <a:p>
            <a:pPr marL="0" indent="0">
              <a:buNone/>
            </a:pPr>
            <a:r>
              <a:rPr lang="pl-PL" sz="2400" dirty="0"/>
              <a:t>4. Obliczamy odwrotność modulo φ(n) liczby e i otrzymujemy liczbę d, która jest elementem klucza prywatnego.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A414F76-2730-E8B5-3E15-1C3FDC9B044C}"/>
              </a:ext>
            </a:extLst>
          </p:cNvPr>
          <p:cNvSpPr txBox="1"/>
          <p:nvPr/>
        </p:nvSpPr>
        <p:spPr>
          <a:xfrm>
            <a:off x="838200" y="5992297"/>
            <a:ext cx="7585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/>
              <a:t>*funkcja Eulera dla liczb pierwszych:  φ (n) =(p - 1) * (q - 1)</a:t>
            </a:r>
          </a:p>
        </p:txBody>
      </p:sp>
    </p:spTree>
    <p:extLst>
      <p:ext uri="{BB962C8B-B14F-4D97-AF65-F5344CB8AC3E}">
        <p14:creationId xmlns:p14="http://schemas.microsoft.com/office/powerpoint/2010/main" val="250681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9DC5CF-FB97-A54E-1691-AD427551B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2032D9C-AE0D-318C-E1CD-926C7E819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84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Po zrealizowaniu wszystkich czterech kroków możemy szyfrować i deszyfrować wiadomości zgodnie z następującymi funkcjami: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Oraz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 gdzie </a:t>
            </a:r>
            <a:r>
              <a:rPr lang="pl-PL" b="1" i="1" dirty="0"/>
              <a:t>W</a:t>
            </a:r>
            <a:r>
              <a:rPr lang="pl-PL" dirty="0"/>
              <a:t> to wiadomość w postaci liczbowej, będąca mniejsza od </a:t>
            </a:r>
            <a:r>
              <a:rPr lang="pl-PL" b="1" i="1" dirty="0"/>
              <a:t>n</a:t>
            </a:r>
            <a:r>
              <a:rPr lang="pl-PL" dirty="0"/>
              <a:t> , a  </a:t>
            </a:r>
            <a:r>
              <a:rPr lang="pl-PL" b="1" i="1" dirty="0"/>
              <a:t>S</a:t>
            </a:r>
            <a:r>
              <a:rPr lang="pl-PL" dirty="0"/>
              <a:t> to szyfrogram wiadomości, którą chcemy odszyfrować.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5351133-8660-95B3-EB0D-1C29C8DAD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161" y="539391"/>
            <a:ext cx="4607682" cy="265581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8E40C43C-2044-2C81-B44F-47BA645A8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491" y="3662792"/>
            <a:ext cx="3151380" cy="81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28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CC496A-0BCE-8444-855C-F0CE2632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Zastosowanie RSA w Szyfrowaniu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EF595AA-7668-5225-33CB-3F0B491C5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3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4000" dirty="0"/>
              <a:t>RSA jest wykorzystywane głównie do </a:t>
            </a:r>
            <a:r>
              <a:rPr lang="pl-PL" sz="4000" b="1" dirty="0"/>
              <a:t>szyfrowania</a:t>
            </a:r>
            <a:r>
              <a:rPr lang="pl-PL" sz="4000" dirty="0"/>
              <a:t> danych, jednak ze względu na swoją </a:t>
            </a:r>
            <a:r>
              <a:rPr lang="pl-PL" sz="4000" b="1" dirty="0"/>
              <a:t>wolność w działaniu</a:t>
            </a:r>
            <a:r>
              <a:rPr lang="pl-PL" sz="4000" dirty="0"/>
              <a:t> w porównaniu do algorytmów symetrycznych, zazwyczaj używa się go w </a:t>
            </a:r>
            <a:r>
              <a:rPr lang="pl-PL" sz="4000" b="1" dirty="0"/>
              <a:t>komunikacji wstępnej</a:t>
            </a:r>
            <a:r>
              <a:rPr lang="pl-PL" sz="4000" dirty="0"/>
              <a:t> do bezpiecznej wymiany kluczy. Później wykorzystywane są szybsze algorytmy symetryczne, takie jak </a:t>
            </a:r>
            <a:r>
              <a:rPr lang="pl-PL" sz="4000"/>
              <a:t>AES. </a:t>
            </a:r>
            <a:endParaRPr lang="pl-PL" sz="4000" dirty="0"/>
          </a:p>
        </p:txBody>
      </p:sp>
    </p:spTree>
    <p:extLst>
      <p:ext uri="{BB962C8B-B14F-4D97-AF65-F5344CB8AC3E}">
        <p14:creationId xmlns:p14="http://schemas.microsoft.com/office/powerpoint/2010/main" val="77637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6BE765-0E59-DF48-45AC-7D5D0663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l-PL" b="1" dirty="0"/>
              <a:t>Zastosowanie RSA w podpisach elektronicznych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6413A6-E901-FBB8-3B59-E24AE6F92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0124"/>
            <a:ext cx="10515600" cy="4435475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RSA jest również wykorzystywane do </a:t>
            </a:r>
            <a:r>
              <a:rPr lang="pl-PL" b="1" dirty="0"/>
              <a:t>tworzenia podpisów cyfrowych</a:t>
            </a:r>
            <a:r>
              <a:rPr lang="pl-PL" dirty="0"/>
              <a:t>, które zapewniają </a:t>
            </a:r>
            <a:r>
              <a:rPr lang="pl-PL" b="1" dirty="0"/>
              <a:t>autentyczność</a:t>
            </a:r>
            <a:r>
              <a:rPr lang="pl-PL" dirty="0"/>
              <a:t> oraz </a:t>
            </a:r>
            <a:r>
              <a:rPr lang="pl-PL" b="1" dirty="0"/>
              <a:t>integralność</a:t>
            </a:r>
            <a:r>
              <a:rPr lang="pl-PL" dirty="0"/>
              <a:t> danych. Proces podpisywania polega na tym, że nadawca „podpisuje” wiadomość za pomocą swojego </a:t>
            </a:r>
            <a:r>
              <a:rPr lang="pl-PL" b="1" dirty="0"/>
              <a:t>klucza prywatnego</a:t>
            </a:r>
            <a:r>
              <a:rPr lang="pl-PL" dirty="0"/>
              <a:t>, a odbiorca weryfikuje podpis za pomocą </a:t>
            </a:r>
            <a:r>
              <a:rPr lang="pl-PL" b="1" dirty="0"/>
              <a:t>klucza publicznego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2037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47B69E-415F-1FC7-35E6-B537F610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Proces tworzenia podpisu cyfrowego: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236B3A0-B38D-BEBE-3EF4-0914484A3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576242"/>
            <a:ext cx="11301679" cy="47956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b="1" dirty="0"/>
              <a:t>1.</a:t>
            </a:r>
            <a:r>
              <a:rPr lang="pl-PL" dirty="0"/>
              <a:t> Proces podpisywania polega na tym, że przed wysłaniem wiadomości </a:t>
            </a:r>
            <a:r>
              <a:rPr lang="pl-PL" b="1" i="1" dirty="0"/>
              <a:t>M</a:t>
            </a:r>
            <a:r>
              <a:rPr lang="pl-PL" dirty="0"/>
              <a:t> nadawca najpierw tworzy jej skrót </a:t>
            </a:r>
            <a:r>
              <a:rPr lang="pl-PL" b="1" i="1" dirty="0"/>
              <a:t>H(M)</a:t>
            </a:r>
            <a:r>
              <a:rPr lang="pl-PL" dirty="0"/>
              <a:t> przy użyciu funkcji </a:t>
            </a:r>
            <a:r>
              <a:rPr lang="pl-PL" dirty="0" err="1"/>
              <a:t>hashującej</a:t>
            </a:r>
            <a:r>
              <a:rPr lang="pl-PL" dirty="0"/>
              <a:t>. </a:t>
            </a:r>
          </a:p>
          <a:p>
            <a:pPr marL="0" indent="0">
              <a:buNone/>
            </a:pPr>
            <a:r>
              <a:rPr lang="pl-PL" b="1" dirty="0"/>
              <a:t>2</a:t>
            </a:r>
            <a:r>
              <a:rPr lang="pl-PL" dirty="0"/>
              <a:t>. Następnie szyfruje uzyskaną wartość swoim kluczem prywatnym </a:t>
            </a:r>
            <a:r>
              <a:rPr lang="pl-PL" b="1" i="1" dirty="0"/>
              <a:t>d</a:t>
            </a:r>
            <a:r>
              <a:rPr lang="pl-PL" dirty="0"/>
              <a:t>, otrzymując podpis  </a:t>
            </a:r>
            <a:r>
              <a:rPr lang="pl-PL" b="1" i="1" dirty="0"/>
              <a:t>S</a:t>
            </a:r>
            <a:r>
              <a:rPr lang="pl-PL" dirty="0"/>
              <a:t> dołączany do wiadomości. Podpis</a:t>
            </a:r>
            <a:r>
              <a:rPr lang="pl-PL" b="1" i="1" dirty="0"/>
              <a:t> S </a:t>
            </a:r>
            <a:r>
              <a:rPr lang="pl-PL" dirty="0"/>
              <a:t>jest obliczany jako</a:t>
            </a:r>
          </a:p>
          <a:p>
            <a:pPr marL="0" indent="0">
              <a:buNone/>
            </a:pPr>
            <a:endParaRPr lang="pl-PL" b="1" dirty="0"/>
          </a:p>
          <a:p>
            <a:pPr marL="0" indent="0">
              <a:buNone/>
            </a:pPr>
            <a:r>
              <a:rPr lang="pl-PL" b="1" dirty="0"/>
              <a:t>3.</a:t>
            </a:r>
            <a:r>
              <a:rPr lang="pl-PL" dirty="0"/>
              <a:t>Weryfikacja podpisu – odbiorca oblicza skrót wiadomości oraz odszyfrowuje podpis za pomocą klucza publicznego nadawcy.  Odszyfrowana wartość </a:t>
            </a:r>
            <a:r>
              <a:rPr lang="pl-PL" b="1" i="1" dirty="0"/>
              <a:t>H’(M)</a:t>
            </a:r>
            <a:r>
              <a:rPr lang="pl-PL" b="1" dirty="0"/>
              <a:t> </a:t>
            </a:r>
            <a:r>
              <a:rPr lang="pl-PL" dirty="0"/>
              <a:t>jest obliczana jako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4. Na końcu sprawdza się czy wartość skrótu </a:t>
            </a:r>
            <a:r>
              <a:rPr lang="pl-PL" b="1" i="1" dirty="0"/>
              <a:t>H’(M) </a:t>
            </a:r>
            <a:r>
              <a:rPr lang="pl-PL" dirty="0"/>
              <a:t>jest równa wartości </a:t>
            </a:r>
            <a:r>
              <a:rPr lang="pl-PL" b="1" i="1" dirty="0"/>
              <a:t>H(M)</a:t>
            </a:r>
            <a:r>
              <a:rPr lang="pl-PL" dirty="0"/>
              <a:t>.  Jeśli są zgodne podpis jest ważny.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19" name="Obraz 18">
            <a:extLst>
              <a:ext uri="{FF2B5EF4-FFF2-40B4-BE49-F238E27FC236}">
                <a16:creationId xmlns:a16="http://schemas.microsoft.com/office/drawing/2014/main" id="{B5B43127-482B-8BB7-A123-E9F4AF3C7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269" y="2736575"/>
            <a:ext cx="3746968" cy="789539"/>
          </a:xfrm>
          <a:prstGeom prst="rect">
            <a:avLst/>
          </a:prstGeom>
        </p:spPr>
      </p:pic>
      <p:pic>
        <p:nvPicPr>
          <p:cNvPr id="23" name="Obraz 22">
            <a:extLst>
              <a:ext uri="{FF2B5EF4-FFF2-40B4-BE49-F238E27FC236}">
                <a16:creationId xmlns:a16="http://schemas.microsoft.com/office/drawing/2014/main" id="{3570CF72-0B4B-60A9-EC86-B6FED6C4F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598" y="4535295"/>
            <a:ext cx="2466506" cy="40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2326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TM04033919[[fn=Obwód]]</Template>
  <TotalTime>173</TotalTime>
  <Words>510</Words>
  <Application>Microsoft Office PowerPoint</Application>
  <PresentationFormat>Panoramiczny</PresentationFormat>
  <Paragraphs>31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Motyw pakietu Office</vt:lpstr>
      <vt:lpstr>SZYFR Z KLUCZEM JAWNYM (RSA)</vt:lpstr>
      <vt:lpstr>Czym jest klucz RSA?</vt:lpstr>
      <vt:lpstr>Jak wyznaczyć klucz prywatny i publiczny? </vt:lpstr>
      <vt:lpstr>Prezentacja programu PowerPoint</vt:lpstr>
      <vt:lpstr>Zastosowanie RSA w Szyfrowaniu </vt:lpstr>
      <vt:lpstr>Zastosowanie RSA w podpisach elektronicznych </vt:lpstr>
      <vt:lpstr>Proces tworzenia podpisu cyfrowego: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SZYFR Z KLUCZEM JAWNYM (RSA)</dc:title>
  <dc:creator>Magda Mierzejewska</dc:creator>
  <cp:lastModifiedBy>student251d</cp:lastModifiedBy>
  <cp:revision>4</cp:revision>
  <dcterms:created xsi:type="dcterms:W3CDTF">2025-11-24T18:29:05Z</dcterms:created>
  <dcterms:modified xsi:type="dcterms:W3CDTF">2025-11-25T10:39:30Z</dcterms:modified>
</cp:coreProperties>
</file>